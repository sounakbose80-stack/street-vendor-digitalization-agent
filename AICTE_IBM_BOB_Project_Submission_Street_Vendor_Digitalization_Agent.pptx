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90" r:id="rId2"/>
    <p:sldId id="291" r:id="rId3"/>
    <p:sldId id="292" r:id="rId4"/>
    <p:sldId id="293" r:id="rId5"/>
    <p:sldId id="294" r:id="rId6"/>
    <p:sldId id="295" r:id="rId7"/>
    <p:sldId id="296" r:id="rId8"/>
    <p:sldId id="297" r:id="rId9"/>
    <p:sldId id="298" r:id="rId10"/>
    <p:sldId id="310" r:id="rId11"/>
    <p:sldId id="299" r:id="rId12"/>
    <p:sldId id="300" r:id="rId13"/>
    <p:sldId id="302" r:id="rId14"/>
    <p:sldId id="301" r:id="rId15"/>
    <p:sldId id="303" r:id="rId16"/>
    <p:sldId id="304" r:id="rId17"/>
    <p:sldId id="305" r:id="rId18"/>
    <p:sldId id="306" r:id="rId19"/>
    <p:sldId id="307" r:id="rId20"/>
    <p:sldId id="308" r:id="rId21"/>
    <p:sldId id="309"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ounakbose80-stack/Street-Vendor-Digitalization-Agent.gi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78199960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Sounak Bose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sounakbose80@gmail.com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9831480260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Micro-Entrepreneurship &amp; MSME Development</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Street Vendor Digitalization Agent</a:t>
            </a:r>
            <a:endParaRPr lang="en-IN" sz="2400" b="1" dirty="0"/>
          </a:p>
        </p:txBody>
      </p:sp>
      <p:pic>
        <p:nvPicPr>
          <p:cNvPr id="5" name="Picture 4">
            <a:extLst>
              <a:ext uri="{FF2B5EF4-FFF2-40B4-BE49-F238E27FC236}">
                <a16:creationId xmlns:a16="http://schemas.microsoft.com/office/drawing/2014/main" id="{9847950E-0058-5EA8-4F83-9DA399E15DA1}"/>
              </a:ext>
            </a:extLst>
          </p:cNvPr>
          <p:cNvPicPr>
            <a:picLocks noChangeAspect="1"/>
          </p:cNvPicPr>
          <p:nvPr/>
        </p:nvPicPr>
        <p:blipFill>
          <a:blip r:embed="rId3"/>
          <a:stretch>
            <a:fillRect/>
          </a:stretch>
        </p:blipFill>
        <p:spPr>
          <a:xfrm>
            <a:off x="3827514" y="3598606"/>
            <a:ext cx="1304925" cy="102424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117987" y="850982"/>
            <a:ext cx="11956026" cy="5693866"/>
          </a:xfrm>
          <a:prstGeom prst="rect">
            <a:avLst/>
          </a:prstGeom>
          <a:noFill/>
        </p:spPr>
        <p:txBody>
          <a:bodyPr wrap="square" rtlCol="0">
            <a:spAutoFit/>
          </a:bodyPr>
          <a:lstStyle/>
          <a:p>
            <a:pPr fontAlgn="base"/>
            <a:r>
              <a:rPr lang="en-US" b="1" dirty="0"/>
              <a:t>Problem Statement : </a:t>
            </a:r>
            <a:r>
              <a:rPr lang="en-IN" dirty="0"/>
              <a:t>Street Vendor Digitalization Agent </a:t>
            </a:r>
            <a:br>
              <a:rPr lang="en-IN" dirty="0"/>
            </a:br>
            <a:endParaRPr lang="en-US" b="1" dirty="0"/>
          </a:p>
          <a:p>
            <a:pPr fontAlgn="base"/>
            <a:r>
              <a:rPr lang="en-US" b="1" dirty="0"/>
              <a:t>The Challenge</a:t>
            </a:r>
            <a:r>
              <a:rPr lang="en-US" dirty="0"/>
              <a:t> </a:t>
            </a:r>
          </a:p>
          <a:p>
            <a:pPr fontAlgn="base"/>
            <a:r>
              <a:rPr lang="en-IN" dirty="0"/>
              <a:t>A Street Vendor Digitalization Agent, powered by RAG (Retrieval-Augmented Generation), helps local hawkers and micro-entrepreneurs become digitally visible by generating business profiles, UPI setup guides, local SEO strategies, and customer engagement tips. </a:t>
            </a:r>
            <a:br>
              <a:rPr lang="en-IN" dirty="0"/>
            </a:br>
            <a:r>
              <a:rPr lang="en-IN" dirty="0"/>
              <a:t>It retrieves real-time policies, MSME schemes, geolocation of business data, digital onboarding steps, and consumer </a:t>
            </a:r>
            <a:r>
              <a:rPr lang="en-IN" dirty="0" err="1"/>
              <a:t>behavior</a:t>
            </a:r>
            <a:r>
              <a:rPr lang="en-IN" dirty="0"/>
              <a:t> insights from government portals, fintech apps, and commerce platforms. </a:t>
            </a:r>
            <a:br>
              <a:rPr lang="en-IN" dirty="0"/>
            </a:br>
            <a:r>
              <a:rPr lang="en-IN" dirty="0"/>
              <a:t>Vendors can simply say, “I sell fruit in Pune’s Camp area,” and the agent will suggest pricing tips, online listing platforms, QR code setup, and promotional materials in their local language. This AI-driven assistant empowers informal businesses to grow digitally, unlock access to credit, and boost visibility in the hyperlocal economy.</a:t>
            </a:r>
            <a:br>
              <a:rPr lang="en-IN" dirty="0"/>
            </a:br>
            <a:endParaRPr lang="en-US" dirty="0"/>
          </a:p>
          <a:p>
            <a:pPr fontAlgn="base"/>
            <a:r>
              <a:rPr lang="en-US" b="1" dirty="0"/>
              <a:t>The Objective</a:t>
            </a:r>
            <a:r>
              <a:rPr lang="en-US" dirty="0"/>
              <a:t> </a:t>
            </a:r>
          </a:p>
          <a:p>
            <a:r>
              <a:rPr lang="en-IN" dirty="0"/>
              <a:t>Bridging the digital divide for street vendors, hawkers, and informal-sector traders using AI-driven guidance, government scheme access, and zero-cost digital tools.</a:t>
            </a:r>
            <a:br>
              <a:rPr lang="en-IN" dirty="0"/>
            </a:br>
            <a:endParaRPr lang="en-IN" dirty="0"/>
          </a:p>
          <a:p>
            <a:r>
              <a:rPr lang="en-IN" b="1" cap="all" dirty="0"/>
              <a:t>Bullet Points</a:t>
            </a:r>
          </a:p>
          <a:p>
            <a:pPr marL="285750" lvl="0" indent="-285750">
              <a:buFont typeface="Arial" panose="020B0604020202020204" pitchFamily="34" charset="0"/>
              <a:buChar char="•"/>
            </a:pPr>
            <a:r>
              <a:rPr lang="en-IN" b="1" dirty="0"/>
              <a:t>Digital Visibility &amp; Profile Creation —</a:t>
            </a:r>
            <a:r>
              <a:rPr lang="en-IN" dirty="0"/>
              <a:t>Generate shareable digital flyers, WhatsApp business bios, and Google Maps–ready profiles in seconds, with no prior tech knowledge required.</a:t>
            </a:r>
          </a:p>
          <a:p>
            <a:pPr marL="285750" lvl="0" indent="-285750">
              <a:buFont typeface="Arial" panose="020B0604020202020204" pitchFamily="34" charset="0"/>
              <a:buChar char="•"/>
            </a:pPr>
            <a:r>
              <a:rPr lang="en-IN" b="1" dirty="0"/>
              <a:t>Hyperlocal SEO &amp; Marketing Guidance —</a:t>
            </a:r>
            <a:r>
              <a:rPr lang="en-IN" dirty="0"/>
              <a:t>Deliver city-specific strategies (Pune, Mumbai, Delhi) covering Google Business Profile, Justdial listings, Instagram reels, and WhatsApp broadcast campaigns.</a:t>
            </a:r>
          </a:p>
          <a:p>
            <a:pPr marL="285750" lvl="0" indent="-285750">
              <a:buFont typeface="Arial" panose="020B0604020202020204" pitchFamily="34" charset="0"/>
              <a:buChar char="•"/>
            </a:pPr>
            <a:r>
              <a:rPr lang="en-IN" b="1" dirty="0"/>
              <a:t>Fintech &amp; UPI Onboarding Assistance —</a:t>
            </a:r>
            <a:r>
              <a:rPr lang="en-IN" dirty="0"/>
              <a:t>Provide step-by-step QR code setup walkthroughs for </a:t>
            </a:r>
            <a:r>
              <a:rPr lang="en-IN" dirty="0" err="1"/>
              <a:t>GPay</a:t>
            </a:r>
            <a:r>
              <a:rPr lang="en-IN" dirty="0"/>
              <a:t>, PhonePe, Paytm, and BHIM, enabling vendors to accept digital payments with zero transaction cost.</a:t>
            </a:r>
          </a:p>
          <a:p>
            <a:pPr marL="285750" lvl="0" indent="-285750">
              <a:buFont typeface="Arial" panose="020B0604020202020204" pitchFamily="34" charset="0"/>
              <a:buChar char="•"/>
            </a:pPr>
            <a:r>
              <a:rPr lang="en-IN" b="1" dirty="0"/>
              <a:t>Scheme &amp; Credit Access (PM </a:t>
            </a:r>
            <a:r>
              <a:rPr lang="en-IN" b="1" dirty="0" err="1"/>
              <a:t>SVANidhi</a:t>
            </a:r>
            <a:r>
              <a:rPr lang="en-IN" b="1" dirty="0"/>
              <a:t> / MSME Mudra) —</a:t>
            </a:r>
            <a:r>
              <a:rPr lang="en-IN" dirty="0"/>
              <a:t>Surface collateral-free loan eligibility, application pathways, and subsidy details grounded in verified government policy data.</a:t>
            </a:r>
          </a:p>
          <a:p>
            <a:pPr marL="285750" lvl="0" indent="-285750">
              <a:buFont typeface="Arial" panose="020B0604020202020204" pitchFamily="34" charset="0"/>
              <a:buChar char="•"/>
            </a:pPr>
            <a:r>
              <a:rPr lang="en-IN" b="1" dirty="0"/>
              <a:t>Multilingual &amp; Accessibility Focus —</a:t>
            </a:r>
            <a:r>
              <a:rPr lang="en-IN" dirty="0"/>
              <a:t>Support for English, Hindi, and Marathi with large-text, high-contrast, mobile-first UI optimised for low-end Android devices on 4G connectivity.</a:t>
            </a:r>
            <a:endParaRPr lang="en-US" dirty="0"/>
          </a:p>
        </p:txBody>
      </p:sp>
      <p:sp>
        <p:nvSpPr>
          <p:cNvPr id="3" name="TextBox 2">
            <a:extLst>
              <a:ext uri="{FF2B5EF4-FFF2-40B4-BE49-F238E27FC236}">
                <a16:creationId xmlns:a16="http://schemas.microsoft.com/office/drawing/2014/main" id="{3847FA31-EA47-D27A-9D69-AF50A3080AEC}"/>
              </a:ext>
            </a:extLst>
          </p:cNvPr>
          <p:cNvSpPr txBox="1"/>
          <p:nvPr/>
        </p:nvSpPr>
        <p:spPr>
          <a:xfrm>
            <a:off x="202446" y="251803"/>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85904" y="831317"/>
            <a:ext cx="10607040" cy="5478423"/>
          </a:xfrm>
          <a:prstGeom prst="rect">
            <a:avLst/>
          </a:prstGeom>
          <a:noFill/>
        </p:spPr>
        <p:txBody>
          <a:bodyPr wrap="square" rtlCol="0">
            <a:spAutoFit/>
          </a:bodyPr>
          <a:lstStyle/>
          <a:p>
            <a:r>
              <a:rPr lang="en-IN" b="1" dirty="0"/>
              <a:t>An Agentic RAG Platform — From Query to Actionable Outcome</a:t>
            </a:r>
            <a:endParaRPr lang="en-IN" dirty="0"/>
          </a:p>
          <a:p>
            <a:br>
              <a:rPr lang="en-IN" b="1" cap="all" dirty="0"/>
            </a:br>
            <a:r>
              <a:rPr lang="en-IN" b="1" cap="all" dirty="0"/>
              <a:t>RAG Pipeline</a:t>
            </a:r>
          </a:p>
          <a:p>
            <a:r>
              <a:rPr lang="en-IN" dirty="0"/>
              <a:t>The system is built on a </a:t>
            </a:r>
            <a:r>
              <a:rPr lang="en-IN" b="1" dirty="0"/>
              <a:t>Retrieval-Augmented Generation (RAG) pipeline</a:t>
            </a:r>
            <a:r>
              <a:rPr lang="en-IN" dirty="0"/>
              <a:t> powered by IBM's Granite language model. When a vendor submits a query — typed or voice-transcribed — the backend performs keyword-weighted retrieval across a curated knowledge base sourced from government portals (PM </a:t>
            </a:r>
            <a:r>
              <a:rPr lang="en-IN" dirty="0" err="1"/>
              <a:t>SVANidhi</a:t>
            </a:r>
            <a:r>
              <a:rPr lang="en-IN" dirty="0"/>
              <a:t>, MSME Mudra), fintech onboarding guides (UPI, QR setup), regional APMC pricing benchmarks, and hyperlocal marketing templates for Tier-1 and Tier-2 Indian cities. The top-3 most relevant context blocks are dynamically injected into a structured system prompt before being submitted to </a:t>
            </a:r>
            <a:r>
              <a:rPr lang="en-IN" b="1" dirty="0" err="1"/>
              <a:t>ibm</a:t>
            </a:r>
            <a:r>
              <a:rPr lang="en-IN" b="1" dirty="0"/>
              <a:t>/granite-4-h-small</a:t>
            </a:r>
            <a:r>
              <a:rPr lang="en-IN" dirty="0"/>
              <a:t> via the watsonx.ai generation API — ensuring every response is grounded in verified, policy-accurate information rather than model hallucination.</a:t>
            </a:r>
          </a:p>
          <a:p>
            <a:br>
              <a:rPr lang="en-IN" b="1" cap="all" dirty="0"/>
            </a:br>
            <a:r>
              <a:rPr lang="en-IN" b="1" cap="all" dirty="0"/>
              <a:t>Multi-Agent Architecture &amp; Interface</a:t>
            </a:r>
          </a:p>
          <a:p>
            <a:r>
              <a:rPr lang="en-IN" dirty="0"/>
              <a:t>The solution employs a </a:t>
            </a:r>
            <a:r>
              <a:rPr lang="en-IN" b="1" dirty="0"/>
              <a:t>multi-agent orchestration model</a:t>
            </a:r>
            <a:r>
              <a:rPr lang="en-IN" dirty="0"/>
              <a:t> with four specialised agents operating in collaboration: an </a:t>
            </a:r>
            <a:r>
              <a:rPr lang="en-IN" i="1" dirty="0"/>
              <a:t>Onboarding Agent</a:t>
            </a:r>
            <a:r>
              <a:rPr lang="en-IN" dirty="0"/>
              <a:t> that guides vendors through registration and UPI setup; a </a:t>
            </a:r>
            <a:r>
              <a:rPr lang="en-IN" i="1" dirty="0"/>
              <a:t>Marketing &amp; SEO Agent</a:t>
            </a:r>
            <a:r>
              <a:rPr lang="en-IN" dirty="0"/>
              <a:t> that generates localised digital content and listing strategies; a </a:t>
            </a:r>
            <a:r>
              <a:rPr lang="en-IN" i="1" dirty="0"/>
              <a:t>Financial Literacy Agent</a:t>
            </a:r>
            <a:r>
              <a:rPr lang="en-IN" dirty="0"/>
              <a:t> that surfaces scheme eligibility and loan application steps; and a </a:t>
            </a:r>
            <a:r>
              <a:rPr lang="en-IN" i="1" dirty="0"/>
              <a:t>Pricing Advisor Agent</a:t>
            </a:r>
            <a:r>
              <a:rPr lang="en-IN" dirty="0"/>
              <a:t> that computes optimal margin targets based on commodity type and city. This agentic layer sits above a </a:t>
            </a:r>
            <a:r>
              <a:rPr lang="en-IN" b="1" dirty="0"/>
              <a:t>mobile-first web dashboard</a:t>
            </a:r>
            <a:r>
              <a:rPr lang="en-IN" dirty="0"/>
              <a:t> built with Python (Flask), HTML5, CSS3, and vanilla JavaScript — requiring no app installation and running in any modern mobile browser.</a:t>
            </a:r>
            <a:br>
              <a:rPr lang="en-IN" dirty="0"/>
            </a:br>
            <a:endParaRPr lang="en-IN" dirty="0"/>
          </a:p>
          <a:p>
            <a:pPr fontAlgn="base"/>
            <a:r>
              <a:rPr lang="en-IN" b="1" cap="all" dirty="0"/>
              <a:t>Four Specialised Agents</a:t>
            </a:r>
          </a:p>
          <a:p>
            <a:pPr fontAlgn="base"/>
            <a:endParaRPr lang="en-IN" b="1" cap="all" dirty="0"/>
          </a:p>
          <a:p>
            <a:pPr fontAlgn="base"/>
            <a:endParaRPr lang="en-IN" b="1" cap="all" dirty="0"/>
          </a:p>
          <a:p>
            <a:pPr fontAlgn="base"/>
            <a:endParaRPr lang="en-IN" b="1" cap="all"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635066" y="241972"/>
            <a:ext cx="7214616" cy="461665"/>
          </a:xfrm>
          <a:prstGeom prst="rect">
            <a:avLst/>
          </a:prstGeom>
          <a:noFill/>
        </p:spPr>
        <p:txBody>
          <a:bodyPr wrap="square" rtlCol="0">
            <a:spAutoFit/>
          </a:bodyPr>
          <a:lstStyle/>
          <a:p>
            <a:r>
              <a:rPr lang="en-US" sz="2400" b="1" dirty="0"/>
              <a:t>Proposed Solution -</a:t>
            </a:r>
            <a:endParaRPr lang="en-IN" sz="2400" b="1" dirty="0"/>
          </a:p>
        </p:txBody>
      </p:sp>
      <p:pic>
        <p:nvPicPr>
          <p:cNvPr id="5" name="Picture 4">
            <a:extLst>
              <a:ext uri="{FF2B5EF4-FFF2-40B4-BE49-F238E27FC236}">
                <a16:creationId xmlns:a16="http://schemas.microsoft.com/office/drawing/2014/main" id="{6164A795-DF1E-A363-877C-D4FA7C4B75B6}"/>
              </a:ext>
            </a:extLst>
          </p:cNvPr>
          <p:cNvPicPr>
            <a:picLocks noChangeAspect="1"/>
          </p:cNvPicPr>
          <p:nvPr/>
        </p:nvPicPr>
        <p:blipFill>
          <a:blip r:embed="rId3"/>
          <a:stretch>
            <a:fillRect/>
          </a:stretch>
        </p:blipFill>
        <p:spPr>
          <a:xfrm>
            <a:off x="915283" y="5329084"/>
            <a:ext cx="10361434" cy="1137862"/>
          </a:xfrm>
          <a:prstGeom prst="rect">
            <a:avLst/>
          </a:prstGeom>
        </p:spPr>
      </p:pic>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90427" y="209329"/>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40326" y="990698"/>
            <a:ext cx="10911348" cy="5693866"/>
          </a:xfrm>
          <a:prstGeom prst="rect">
            <a:avLst/>
          </a:prstGeom>
          <a:noFill/>
        </p:spPr>
        <p:txBody>
          <a:bodyPr wrap="square" rtlCol="0">
            <a:spAutoFit/>
          </a:bodyPr>
          <a:lstStyle/>
          <a:p>
            <a:r>
              <a:rPr lang="en-IN" b="1" dirty="0"/>
              <a:t>Full-Stack AI Technology — </a:t>
            </a:r>
            <a:r>
              <a:rPr lang="en-IN" dirty="0"/>
              <a:t>From Model to Mobile Browser</a:t>
            </a:r>
          </a:p>
          <a:p>
            <a:endParaRPr lang="en-IN" dirty="0"/>
          </a:p>
          <a:p>
            <a:r>
              <a:rPr lang="en-IN" b="1" cap="all" dirty="0"/>
              <a:t>Technology Stack Cards</a:t>
            </a:r>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endParaRPr lang="en-IN" b="1" cap="all" dirty="0"/>
          </a:p>
          <a:p>
            <a:br>
              <a:rPr lang="en-IN" b="1" cap="all" dirty="0"/>
            </a:br>
            <a:br>
              <a:rPr lang="en-IN" b="1" cap="all" dirty="0"/>
            </a:br>
            <a:r>
              <a:rPr lang="en-IN" b="1" cap="all" dirty="0"/>
              <a:t>Bullet-List Version</a:t>
            </a:r>
          </a:p>
          <a:p>
            <a:pPr marL="285750" lvl="0" indent="-285750">
              <a:buFont typeface="Arial" panose="020B0604020202020204" pitchFamily="34" charset="0"/>
              <a:buChar char="•"/>
            </a:pPr>
            <a:r>
              <a:rPr lang="en-IN" b="1" dirty="0"/>
              <a:t>IBM Bob Platform</a:t>
            </a:r>
            <a:r>
              <a:rPr lang="en-IN" dirty="0"/>
              <a:t>— Orchestration, workflow, and skill deployment</a:t>
            </a:r>
          </a:p>
          <a:p>
            <a:pPr marL="285750" lvl="0" indent="-285750">
              <a:buFont typeface="Arial" panose="020B0604020202020204" pitchFamily="34" charset="0"/>
              <a:buChar char="•"/>
            </a:pPr>
            <a:r>
              <a:rPr lang="en-IN" b="1" dirty="0"/>
              <a:t>IBM Granite </a:t>
            </a:r>
            <a:r>
              <a:rPr lang="en-IN" b="1" dirty="0" err="1"/>
              <a:t>ibm</a:t>
            </a:r>
            <a:r>
              <a:rPr lang="en-IN" b="1" dirty="0"/>
              <a:t>/granite-4-h-small</a:t>
            </a:r>
            <a:r>
              <a:rPr lang="en-IN" dirty="0"/>
              <a:t>— Core language model for generation</a:t>
            </a:r>
          </a:p>
          <a:p>
            <a:pPr marL="285750" lvl="0" indent="-285750">
              <a:buFont typeface="Arial" panose="020B0604020202020204" pitchFamily="34" charset="0"/>
              <a:buChar char="•"/>
            </a:pPr>
            <a:r>
              <a:rPr lang="en-IN" b="1" dirty="0"/>
              <a:t>IBM watsonx.ai &amp; IBM Cloud</a:t>
            </a:r>
            <a:r>
              <a:rPr lang="en-IN" dirty="0"/>
              <a:t>— Inference API, IAM authentication, secure hosting</a:t>
            </a:r>
          </a:p>
          <a:p>
            <a:pPr marL="285750" lvl="0" indent="-285750">
              <a:buFont typeface="Arial" panose="020B0604020202020204" pitchFamily="34" charset="0"/>
              <a:buChar char="•"/>
            </a:pPr>
            <a:r>
              <a:rPr lang="en-IN" b="1" dirty="0"/>
              <a:t>RAG Architecture / In-Memory Knowledge Base</a:t>
            </a:r>
            <a:r>
              <a:rPr lang="en-IN" dirty="0"/>
              <a:t>— Keyword-scored contextual retrieval</a:t>
            </a:r>
          </a:p>
          <a:p>
            <a:pPr marL="285750" lvl="0" indent="-285750">
              <a:buFont typeface="Arial" panose="020B0604020202020204" pitchFamily="34" charset="0"/>
              <a:buChar char="•"/>
            </a:pPr>
            <a:r>
              <a:rPr lang="en-IN" b="1" dirty="0"/>
              <a:t>Python (Flask)</a:t>
            </a:r>
            <a:r>
              <a:rPr lang="en-IN" dirty="0"/>
              <a:t>— REST backend, token management, prompt engineering</a:t>
            </a:r>
          </a:p>
          <a:p>
            <a:pPr marL="285750" lvl="0" indent="-285750">
              <a:buFont typeface="Arial" panose="020B0604020202020204" pitchFamily="34" charset="0"/>
              <a:buChar char="•"/>
            </a:pPr>
            <a:r>
              <a:rPr lang="en-IN" b="1" dirty="0"/>
              <a:t>HTML5 · CSS3 · Vanilla JavaScript</a:t>
            </a:r>
            <a:r>
              <a:rPr lang="en-IN" dirty="0"/>
              <a:t>— Mobile-first SPA, async API calls</a:t>
            </a:r>
          </a:p>
          <a:p>
            <a:endParaRPr lang="en-IN" b="1" cap="all" dirty="0"/>
          </a:p>
        </p:txBody>
      </p:sp>
      <p:pic>
        <p:nvPicPr>
          <p:cNvPr id="5" name="Picture 4">
            <a:extLst>
              <a:ext uri="{FF2B5EF4-FFF2-40B4-BE49-F238E27FC236}">
                <a16:creationId xmlns:a16="http://schemas.microsoft.com/office/drawing/2014/main" id="{82FAD5F7-6ABC-5DBE-6B36-4E9889091B32}"/>
              </a:ext>
            </a:extLst>
          </p:cNvPr>
          <p:cNvPicPr>
            <a:picLocks noChangeAspect="1"/>
          </p:cNvPicPr>
          <p:nvPr/>
        </p:nvPicPr>
        <p:blipFill>
          <a:blip r:embed="rId3"/>
          <a:stretch>
            <a:fillRect/>
          </a:stretch>
        </p:blipFill>
        <p:spPr>
          <a:xfrm>
            <a:off x="850491" y="1855674"/>
            <a:ext cx="10491019" cy="2438740"/>
          </a:xfrm>
          <a:prstGeom prst="rect">
            <a:avLst/>
          </a:prstGeom>
        </p:spPr>
      </p:pic>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0B2DE86-3230-ED33-5997-89AC470938ED}"/>
              </a:ext>
            </a:extLst>
          </p:cNvPr>
          <p:cNvPicPr>
            <a:picLocks noChangeAspect="1"/>
          </p:cNvPicPr>
          <p:nvPr/>
        </p:nvPicPr>
        <p:blipFill>
          <a:blip r:embed="rId3"/>
          <a:stretch>
            <a:fillRect/>
          </a:stretch>
        </p:blipFill>
        <p:spPr>
          <a:xfrm>
            <a:off x="648929" y="845575"/>
            <a:ext cx="10894142" cy="5921633"/>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8901C249-BF66-7584-B3F6-855EE0402FAD}"/>
              </a:ext>
            </a:extLst>
          </p:cNvPr>
          <p:cNvPicPr>
            <a:picLocks noChangeAspect="1"/>
          </p:cNvPicPr>
          <p:nvPr/>
        </p:nvPicPr>
        <p:blipFill>
          <a:blip r:embed="rId3"/>
          <a:stretch>
            <a:fillRect/>
          </a:stretch>
        </p:blipFill>
        <p:spPr>
          <a:xfrm>
            <a:off x="762000" y="1030737"/>
            <a:ext cx="10668000" cy="5664769"/>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BDCD02-82DC-5A0F-B8B1-BBAD1165B7E6}"/>
              </a:ext>
            </a:extLst>
          </p:cNvPr>
          <p:cNvPicPr>
            <a:picLocks noChangeAspect="1"/>
          </p:cNvPicPr>
          <p:nvPr/>
        </p:nvPicPr>
        <p:blipFill>
          <a:blip r:embed="rId2"/>
          <a:stretch>
            <a:fillRect/>
          </a:stretch>
        </p:blipFill>
        <p:spPr>
          <a:xfrm>
            <a:off x="712839" y="648929"/>
            <a:ext cx="10766323" cy="6042901"/>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9" name="Picture 8">
            <a:extLst>
              <a:ext uri="{FF2B5EF4-FFF2-40B4-BE49-F238E27FC236}">
                <a16:creationId xmlns:a16="http://schemas.microsoft.com/office/drawing/2014/main" id="{70964F79-0132-A0C7-1943-F8DAF62854C5}"/>
              </a:ext>
            </a:extLst>
          </p:cNvPr>
          <p:cNvPicPr>
            <a:picLocks noChangeAspect="1"/>
          </p:cNvPicPr>
          <p:nvPr/>
        </p:nvPicPr>
        <p:blipFill>
          <a:blip r:embed="rId3"/>
          <a:stretch>
            <a:fillRect/>
          </a:stretch>
        </p:blipFill>
        <p:spPr>
          <a:xfrm>
            <a:off x="481781" y="838246"/>
            <a:ext cx="11228439" cy="571090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3DFBCA-294B-50E1-2C41-F5B97354276D}"/>
              </a:ext>
            </a:extLst>
          </p:cNvPr>
          <p:cNvSpPr txBox="1"/>
          <p:nvPr/>
        </p:nvSpPr>
        <p:spPr>
          <a:xfrm>
            <a:off x="481780" y="288564"/>
            <a:ext cx="7285703" cy="461665"/>
          </a:xfrm>
          <a:prstGeom prst="rect">
            <a:avLst/>
          </a:prstGeom>
          <a:noFill/>
        </p:spPr>
        <p:txBody>
          <a:bodyPr wrap="square">
            <a:spAutoFit/>
          </a:bodyPr>
          <a:lstStyle/>
          <a:p>
            <a:r>
              <a:rPr lang="en-IN" sz="2400" b="1" dirty="0"/>
              <a:t>Sequence Diagram — Vendor Query Flow</a:t>
            </a:r>
          </a:p>
        </p:txBody>
      </p:sp>
      <p:pic>
        <p:nvPicPr>
          <p:cNvPr id="9" name="Picture 8">
            <a:extLst>
              <a:ext uri="{FF2B5EF4-FFF2-40B4-BE49-F238E27FC236}">
                <a16:creationId xmlns:a16="http://schemas.microsoft.com/office/drawing/2014/main" id="{34D9860F-AB9E-B58C-B8B6-AFEF911EBBDC}"/>
              </a:ext>
            </a:extLst>
          </p:cNvPr>
          <p:cNvPicPr>
            <a:picLocks noChangeAspect="1"/>
          </p:cNvPicPr>
          <p:nvPr/>
        </p:nvPicPr>
        <p:blipFill>
          <a:blip r:embed="rId2"/>
          <a:stretch>
            <a:fillRect/>
          </a:stretch>
        </p:blipFill>
        <p:spPr>
          <a:xfrm>
            <a:off x="737419" y="786582"/>
            <a:ext cx="10717162" cy="5889522"/>
          </a:xfrm>
          <a:prstGeom prst="rect">
            <a:avLst/>
          </a:prstGeom>
        </p:spPr>
      </p:pic>
    </p:spTree>
    <p:extLst>
      <p:ext uri="{BB962C8B-B14F-4D97-AF65-F5344CB8AC3E}">
        <p14:creationId xmlns:p14="http://schemas.microsoft.com/office/powerpoint/2010/main" val="3687339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9265" y="1002890"/>
            <a:ext cx="10933470" cy="4832092"/>
          </a:xfrm>
          <a:prstGeom prst="rect">
            <a:avLst/>
          </a:prstGeom>
          <a:noFill/>
        </p:spPr>
        <p:txBody>
          <a:bodyPr wrap="square" rtlCol="0">
            <a:spAutoFit/>
          </a:bodyPr>
          <a:lstStyle/>
          <a:p>
            <a:r>
              <a:rPr lang="en-IN" b="1" dirty="0"/>
              <a:t>Beyond Chatbots — A Proactive, Context-Driven Agent System</a:t>
            </a:r>
          </a:p>
          <a:p>
            <a:endParaRPr lang="en-IN" dirty="0"/>
          </a:p>
          <a:p>
            <a:r>
              <a:rPr lang="en-IN" dirty="0"/>
              <a:t>A conventional chatbot retrieves static FAQ responses. The Street Vendor Digitalization Agent operates as a </a:t>
            </a:r>
            <a:r>
              <a:rPr lang="en-IN" b="1" dirty="0"/>
              <a:t>goal-directed, autonomous multi-agent system</a:t>
            </a:r>
            <a:r>
              <a:rPr lang="en-IN" dirty="0"/>
              <a:t> — each agent perceives vendor context, selects tools, and executes multi-step tasks without manual intervention.</a:t>
            </a:r>
            <a:br>
              <a:rPr lang="en-IN" dirty="0"/>
            </a:br>
            <a:endParaRPr lang="en-IN" dirty="0"/>
          </a:p>
          <a:p>
            <a:r>
              <a:rPr lang="en-IN" b="1" cap="all" dirty="0"/>
              <a:t>Bullet Points</a:t>
            </a:r>
          </a:p>
          <a:p>
            <a:pPr marL="285750" lvl="0" indent="-285750">
              <a:buFont typeface="Arial" panose="020B0604020202020204" pitchFamily="34" charset="0"/>
              <a:buChar char="•"/>
            </a:pPr>
            <a:r>
              <a:rPr lang="en-IN" b="1" dirty="0"/>
              <a:t>Autonomous Multi-Agent Collaboration —</a:t>
            </a:r>
            <a:r>
              <a:rPr lang="en-IN" dirty="0"/>
              <a:t>Four specialised agents (Onboarding, Marketing &amp; SEO, Financial Literacy, Pricing Advisor) coordinate in parallel. Each agent maintains its own domain knowledge and tool access, delegating sub-tasks between agents rather than relying on a single monolithic model call.</a:t>
            </a:r>
          </a:p>
          <a:p>
            <a:pPr marL="285750" lvl="0" indent="-285750">
              <a:buFont typeface="Arial" panose="020B0604020202020204" pitchFamily="34" charset="0"/>
              <a:buChar char="•"/>
            </a:pPr>
            <a:r>
              <a:rPr lang="en-IN" b="1" dirty="0"/>
              <a:t>Context Awareness (Location · Vendor Type · Market Needs) —</a:t>
            </a:r>
            <a:r>
              <a:rPr lang="en-IN" dirty="0"/>
              <a:t>The system extracts implicit context from natural language input — inferring city (Pune, Mumbai, Delhi), commodity type (fruit, street food, garments), and business maturity level — to serve hyper-personalised, actionable output rather than generic guidance.</a:t>
            </a:r>
          </a:p>
          <a:p>
            <a:pPr marL="285750" lvl="0" indent="-285750">
              <a:buFont typeface="Arial" panose="020B0604020202020204" pitchFamily="34" charset="0"/>
              <a:buChar char="•"/>
            </a:pPr>
            <a:r>
              <a:rPr lang="en-IN" b="1" dirty="0"/>
              <a:t>Proactive Recommendations &amp; Step-by-Step Task Execution —</a:t>
            </a:r>
            <a:r>
              <a:rPr lang="en-IN" dirty="0"/>
              <a:t>Rather than answering a single question, agents decompose vendor goals into ordered sub-tasks (e.g., "Set up UPI → list on Google Maps → apply for PM </a:t>
            </a:r>
            <a:r>
              <a:rPr lang="en-IN" dirty="0" err="1"/>
              <a:t>SVANidhi</a:t>
            </a:r>
            <a:r>
              <a:rPr lang="en-IN" dirty="0"/>
              <a:t> → join local WhatsApp groups") and walk the vendor through each step sequentially.</a:t>
            </a:r>
          </a:p>
          <a:p>
            <a:pPr marL="285750" lvl="0" indent="-285750">
              <a:buFont typeface="Arial" panose="020B0604020202020204" pitchFamily="34" charset="0"/>
              <a:buChar char="•"/>
            </a:pPr>
            <a:r>
              <a:rPr lang="en-IN" b="1" dirty="0"/>
              <a:t>Dynamic Adaptation Based on Vendor Input —</a:t>
            </a:r>
            <a:r>
              <a:rPr lang="en-IN" dirty="0"/>
              <a:t>Agents re-rank knowledge base retrieval, adjust prompt structure, and modify output language and complexity in real time based on vendor responses — delivering progressively refined advice as the conversation evolves.</a:t>
            </a:r>
          </a:p>
          <a:p>
            <a:pPr marL="285750" lvl="0" indent="-285750">
              <a:buFont typeface="Arial" panose="020B0604020202020204" pitchFamily="34" charset="0"/>
              <a:buChar char="•"/>
            </a:pPr>
            <a:r>
              <a:rPr lang="en-IN" b="1" dirty="0"/>
              <a:t>Grounded Outputs via RAG — No Hallucination Risk —</a:t>
            </a:r>
            <a:r>
              <a:rPr lang="en-IN" dirty="0"/>
              <a:t>Every agent response is anchored to verified retrieval context before generation. IBM Granite is instructed to cite only facts present in the injected knowledge context, ensuring policy data (loan amounts, subsidy rates, application URLs) is always accurate.</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726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F4FD8B3E-175A-13BF-581D-1CD853007549}"/>
              </a:ext>
            </a:extLst>
          </p:cNvPr>
          <p:cNvPicPr>
            <a:picLocks noChangeAspect="1"/>
          </p:cNvPicPr>
          <p:nvPr/>
        </p:nvPicPr>
        <p:blipFill>
          <a:blip r:embed="rId3"/>
          <a:stretch>
            <a:fillRect/>
          </a:stretch>
        </p:blipFill>
        <p:spPr>
          <a:xfrm>
            <a:off x="196640" y="2576052"/>
            <a:ext cx="5253173" cy="2773040"/>
          </a:xfrm>
          <a:prstGeom prst="rect">
            <a:avLst/>
          </a:prstGeom>
        </p:spPr>
      </p:pic>
      <p:pic>
        <p:nvPicPr>
          <p:cNvPr id="6" name="Picture 5">
            <a:extLst>
              <a:ext uri="{FF2B5EF4-FFF2-40B4-BE49-F238E27FC236}">
                <a16:creationId xmlns:a16="http://schemas.microsoft.com/office/drawing/2014/main" id="{BFCF9183-A50E-A5CF-8BF4-446936536733}"/>
              </a:ext>
            </a:extLst>
          </p:cNvPr>
          <p:cNvPicPr>
            <a:picLocks noChangeAspect="1"/>
          </p:cNvPicPr>
          <p:nvPr/>
        </p:nvPicPr>
        <p:blipFill>
          <a:blip r:embed="rId4"/>
          <a:stretch>
            <a:fillRect/>
          </a:stretch>
        </p:blipFill>
        <p:spPr>
          <a:xfrm>
            <a:off x="6762630" y="2577450"/>
            <a:ext cx="5252400" cy="2775369"/>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57E27C6-7D03-1931-0AF7-DAD77E88B64B}"/>
              </a:ext>
            </a:extLst>
          </p:cNvPr>
          <p:cNvPicPr>
            <a:picLocks noChangeAspect="1"/>
          </p:cNvPicPr>
          <p:nvPr/>
        </p:nvPicPr>
        <p:blipFill>
          <a:blip r:embed="rId3"/>
          <a:stretch>
            <a:fillRect/>
          </a:stretch>
        </p:blipFill>
        <p:spPr>
          <a:xfrm>
            <a:off x="553058" y="963561"/>
            <a:ext cx="11085885" cy="545802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46CB2256-709F-F56A-5178-6C6F811D181A}"/>
              </a:ext>
            </a:extLst>
          </p:cNvPr>
          <p:cNvPicPr>
            <a:picLocks noChangeAspect="1"/>
          </p:cNvPicPr>
          <p:nvPr/>
        </p:nvPicPr>
        <p:blipFill>
          <a:blip r:embed="rId3"/>
          <a:stretch>
            <a:fillRect/>
          </a:stretch>
        </p:blipFill>
        <p:spPr>
          <a:xfrm>
            <a:off x="801329" y="983550"/>
            <a:ext cx="10589342" cy="560092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0E9C9B99-FE21-AC9E-5B6E-8849D92C5C16}"/>
              </a:ext>
            </a:extLst>
          </p:cNvPr>
          <p:cNvPicPr>
            <a:picLocks noChangeAspect="1"/>
          </p:cNvPicPr>
          <p:nvPr/>
        </p:nvPicPr>
        <p:blipFill>
          <a:blip r:embed="rId3"/>
          <a:stretch>
            <a:fillRect/>
          </a:stretch>
        </p:blipFill>
        <p:spPr>
          <a:xfrm>
            <a:off x="644013" y="890971"/>
            <a:ext cx="10903974" cy="575598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52284" y="484632"/>
            <a:ext cx="7448132"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207008"/>
            <a:ext cx="11301984" cy="4616648"/>
          </a:xfrm>
          <a:prstGeom prst="rect">
            <a:avLst/>
          </a:prstGeom>
          <a:noFill/>
        </p:spPr>
        <p:txBody>
          <a:bodyPr wrap="square" rtlCol="0">
            <a:spAutoFit/>
          </a:bodyPr>
          <a:lstStyle/>
          <a:p>
            <a:r>
              <a:rPr lang="en-IN" b="1" dirty="0"/>
              <a:t>First-of-Kind AI Advisor Designed Exclusively for India's Informal Economy</a:t>
            </a:r>
            <a:endParaRPr lang="en-IN" dirty="0"/>
          </a:p>
          <a:p>
            <a:br>
              <a:rPr lang="en-IN" dirty="0"/>
            </a:br>
            <a:r>
              <a:rPr lang="en-IN" dirty="0"/>
              <a:t>Existing digital tools target SMEs with formal registration, English literacy, and smartphone proficiency. This solution is purpose-built for the last mile — unregistered vendors, oral-language users, and zero-internet-experience entrepreneurs.</a:t>
            </a:r>
            <a:br>
              <a:rPr lang="en-IN" dirty="0"/>
            </a:br>
            <a:endParaRPr lang="en-IN" dirty="0"/>
          </a:p>
          <a:p>
            <a:r>
              <a:rPr lang="en-IN" b="1" cap="all" dirty="0"/>
              <a:t>Bullet Points</a:t>
            </a:r>
          </a:p>
          <a:p>
            <a:pPr marL="285750" lvl="0" indent="-285750">
              <a:buFont typeface="Arial" panose="020B0604020202020204" pitchFamily="34" charset="0"/>
              <a:buChar char="•"/>
            </a:pPr>
            <a:r>
              <a:rPr lang="en-IN" b="1" dirty="0"/>
              <a:t>Hyperlocal &amp; Informal-Sector Specialisation —</a:t>
            </a:r>
            <a:r>
              <a:rPr lang="en-IN" dirty="0"/>
              <a:t>Knowledge base is scoped exclusively to street-vendor contexts: APMC wholesale market timings, footfall-optimised locations, vending certificate workflows, and municipality-specific scheme access — not generic startup advice.</a:t>
            </a:r>
          </a:p>
          <a:p>
            <a:pPr marL="285750" lvl="0" indent="-285750">
              <a:buFont typeface="Arial" panose="020B0604020202020204" pitchFamily="34" charset="0"/>
              <a:buChar char="•"/>
            </a:pPr>
            <a:r>
              <a:rPr lang="en-IN" b="1" dirty="0"/>
              <a:t>RAG-Grounded Verified Policy &amp; Scheme Data —</a:t>
            </a:r>
            <a:r>
              <a:rPr lang="en-IN" dirty="0"/>
              <a:t>Unlike LLM-only chatbots prone to hallucination, all government scheme details (loan slabs, subsidy percentages, eligibility criteria, application portal URLs) are retrieved from curated, version-controlled documents — ensuring legal accuracy vendors can trust and act on.</a:t>
            </a:r>
          </a:p>
          <a:p>
            <a:pPr marL="285750" lvl="0" indent="-285750">
              <a:buFont typeface="Arial" panose="020B0604020202020204" pitchFamily="34" charset="0"/>
              <a:buChar char="•"/>
            </a:pPr>
            <a:r>
              <a:rPr lang="en-IN" b="1" dirty="0"/>
              <a:t>Multi-Modal &amp; Multi-Lingual Capability —</a:t>
            </a:r>
            <a:r>
              <a:rPr lang="en-IN" dirty="0"/>
              <a:t>Language toggle for English, Hindi (Devanagari), and Marathi directly instructs the Granite model to respond in the vendor's preferred language — with voice-input placeholder architecture ready for STT integration. No language is a barrier to digital access.</a:t>
            </a:r>
          </a:p>
          <a:p>
            <a:pPr marL="285750" lvl="0" indent="-285750">
              <a:buFont typeface="Arial" panose="020B0604020202020204" pitchFamily="34" charset="0"/>
              <a:buChar char="•"/>
            </a:pPr>
            <a:r>
              <a:rPr lang="en-IN" b="1" dirty="0"/>
              <a:t>Zero-Jargon Simplified Business Onboarding —</a:t>
            </a:r>
            <a:r>
              <a:rPr lang="en-IN" dirty="0"/>
              <a:t>All outputs are engineered with a "plain language" instruction layer — financial and legal terminology is automatically translated into street-market analogies (e.g., "collateral-free" explained as "no deposit required, just your Aadhar"). Literacy barrier eliminated.</a:t>
            </a:r>
          </a:p>
          <a:p>
            <a:pPr marL="285750" lvl="0" indent="-285750">
              <a:buFont typeface="Arial" panose="020B0604020202020204" pitchFamily="34" charset="0"/>
              <a:buChar char="•"/>
            </a:pPr>
            <a:r>
              <a:rPr lang="en-IN" b="1" dirty="0"/>
              <a:t>Instant Digital Asset Generation —</a:t>
            </a:r>
            <a:r>
              <a:rPr lang="en-IN" dirty="0"/>
              <a:t>The Profile Generator produces a complete 7-section business flyer — tagline, product descriptions, SEO keywords, WhatsApp bio, and UPI payment instructions — in under 30 seconds, replacing the need for a professional </a:t>
            </a:r>
            <a:r>
              <a:rPr lang="en-IN" dirty="0" err="1"/>
              <a:t>copywrite</a:t>
            </a:r>
            <a:endParaRPr lang="en-IN"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140067" y="49938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Arial" panose="020B0604020202020204" pitchFamily="34" charset="0"/>
                <a:ea typeface="Times New Roman"/>
                <a:cs typeface="Arial" panose="020B0604020202020204" pitchFamily="34" charset="0"/>
                <a:sym typeface="Times New Roman"/>
                <a:hlinkClick r:id="rId3"/>
              </a:rPr>
              <a:t>https://github.com/sounakbose80-stack/Street-Vendor-Digitalization-Agent.git</a:t>
            </a:r>
            <a:endParaRPr lang="en-US" sz="1850" dirty="0">
              <a:solidFill>
                <a:srgbClr val="2B3541"/>
              </a:solidFill>
              <a:latin typeface="Arial" panose="020B0604020202020204" pitchFamily="34" charset="0"/>
              <a:ea typeface="Times New Roman"/>
              <a:cs typeface="Arial" panose="020B0604020202020204" pitchFamily="34" charset="0"/>
              <a:sym typeface="Times New Roman"/>
            </a:endParaRPr>
          </a:p>
          <a:p>
            <a:pPr lvl="0">
              <a:lnSpc>
                <a:spcPct val="162162"/>
              </a:lnSpc>
              <a:buClr>
                <a:srgbClr val="2B3541"/>
              </a:buClr>
              <a:buSzPts val="1850"/>
            </a:pPr>
            <a:endParaRPr sz="1850"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806245" y="1192218"/>
            <a:ext cx="10844981" cy="4795627"/>
          </a:xfrm>
          <a:prstGeom prst="rect">
            <a:avLst/>
          </a:prstGeom>
          <a:noFill/>
          <a:ln>
            <a:noFill/>
          </a:ln>
        </p:spPr>
        <p:txBody>
          <a:bodyPr spcFirstLastPara="1" wrap="square" lIns="0" tIns="0" rIns="0" bIns="0" anchor="t" anchorCtr="0">
            <a:noAutofit/>
          </a:bodyPr>
          <a:lstStyle/>
          <a:p>
            <a:r>
              <a:rPr lang="en-IN" b="1" dirty="0"/>
              <a:t>Roadmap — From Web App to National-Scale Digital Infrastructure</a:t>
            </a:r>
            <a:endParaRPr lang="en-IN" dirty="0"/>
          </a:p>
          <a:p>
            <a:br>
              <a:rPr lang="en-IN" dirty="0"/>
            </a:br>
            <a:r>
              <a:rPr lang="en-IN" dirty="0"/>
              <a:t>The current MVP validates the RAG + Granite architecture with a web interface. The following three enhancements form the production roadmap for Phase 2 and Phase 3 deployment.</a:t>
            </a:r>
            <a:br>
              <a:rPr lang="en-IN" dirty="0"/>
            </a:br>
            <a:endParaRPr lang="en-IN" dirty="0"/>
          </a:p>
          <a:p>
            <a:r>
              <a:rPr lang="en-IN" b="1" cap="all" dirty="0"/>
              <a:t>Enhancement Cards</a:t>
            </a:r>
          </a:p>
          <a:p>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endParaRPr lang="en-IN" sz="1850" b="0" i="0" u="none" strike="noStrike" cap="none" dirty="0">
              <a:solidFill>
                <a:srgbClr val="000000"/>
              </a:solidFill>
              <a:latin typeface="Times New Roman"/>
              <a:ea typeface="Times New Roman"/>
              <a:cs typeface="Times New Roman"/>
              <a:sym typeface="Times New Roman"/>
            </a:endParaRPr>
          </a:p>
          <a:p>
            <a:endParaRPr lang="en-IN" sz="1850" dirty="0">
              <a:latin typeface="Times New Roman"/>
              <a:ea typeface="Times New Roman"/>
              <a:cs typeface="Times New Roman"/>
              <a:sym typeface="Times New Roman"/>
            </a:endParaRPr>
          </a:p>
          <a:p>
            <a:endParaRPr lang="en-IN" sz="1850" b="0" i="0" u="none" strike="noStrike" cap="none" dirty="0">
              <a:solidFill>
                <a:srgbClr val="000000"/>
              </a:solidFill>
              <a:latin typeface="Times New Roman"/>
              <a:ea typeface="Times New Roman"/>
              <a:cs typeface="Times New Roman"/>
              <a:sym typeface="Times New Roman"/>
            </a:endParaRPr>
          </a:p>
          <a:p>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br>
              <a:rPr lang="en-IN" sz="1850" b="0" i="0" u="none" strike="noStrike" cap="none" dirty="0">
                <a:solidFill>
                  <a:srgbClr val="000000"/>
                </a:solidFill>
                <a:latin typeface="Times New Roman"/>
                <a:ea typeface="Times New Roman"/>
                <a:cs typeface="Times New Roman"/>
                <a:sym typeface="Times New Roman"/>
              </a:rPr>
            </a:br>
            <a:r>
              <a:rPr lang="en-IN" b="1" cap="all" dirty="0"/>
              <a:t>Bullet-List </a:t>
            </a:r>
          </a:p>
          <a:p>
            <a:pPr marL="285750" indent="-285750">
              <a:buFont typeface="Arial" panose="020B0604020202020204" pitchFamily="34" charset="0"/>
              <a:buChar char="•"/>
            </a:pPr>
            <a:r>
              <a:rPr lang="en-IN" b="1" dirty="0"/>
              <a:t>WhatsApp / Telegram Bot Deployment</a:t>
            </a:r>
            <a:r>
              <a:rPr lang="en-IN" dirty="0"/>
              <a:t>— Meet vendors on existing platforms; push alerts for scheme deadlines and payment reminders</a:t>
            </a:r>
          </a:p>
          <a:p>
            <a:pPr marL="285750" lvl="0" indent="-285750">
              <a:buFont typeface="Arial" panose="020B0604020202020204" pitchFamily="34" charset="0"/>
              <a:buChar char="•"/>
            </a:pPr>
            <a:r>
              <a:rPr lang="en-IN" b="1" dirty="0"/>
              <a:t>Offline-First Voice Assistant in Regional Dialects</a:t>
            </a:r>
            <a:r>
              <a:rPr lang="en-IN" dirty="0"/>
              <a:t>— Bhashini STT integration for Marathi, Bhojpuri, Tamil; on-device KB cache for no-internet scenarios</a:t>
            </a:r>
          </a:p>
          <a:p>
            <a:pPr marL="285750" lvl="0" indent="-285750">
              <a:buFont typeface="Arial" panose="020B0604020202020204" pitchFamily="34" charset="0"/>
              <a:buChar char="•"/>
            </a:pPr>
            <a:r>
              <a:rPr lang="en-IN" b="1" dirty="0"/>
              <a:t>Automated Micro-Credit Scoring &amp; Application Submission</a:t>
            </a:r>
            <a:r>
              <a:rPr lang="en-IN" dirty="0"/>
              <a:t>— UPI history → eligibility score → pre-filled </a:t>
            </a:r>
            <a:r>
              <a:rPr lang="en-IN" dirty="0" err="1"/>
              <a:t>MoHUA</a:t>
            </a:r>
            <a:r>
              <a:rPr lang="en-IN" dirty="0"/>
              <a:t> / MFI loan application via API</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DEBA53A2-C6C6-D605-2B20-C1E024D8C15F}"/>
              </a:ext>
            </a:extLst>
          </p:cNvPr>
          <p:cNvPicPr>
            <a:picLocks noChangeAspect="1"/>
          </p:cNvPicPr>
          <p:nvPr/>
        </p:nvPicPr>
        <p:blipFill>
          <a:blip r:embed="rId3"/>
          <a:stretch>
            <a:fillRect/>
          </a:stretch>
        </p:blipFill>
        <p:spPr>
          <a:xfrm>
            <a:off x="1094677" y="2595716"/>
            <a:ext cx="10002646" cy="2625213"/>
          </a:xfrm>
          <a:prstGeom prst="rect">
            <a:avLst/>
          </a:prstGeom>
        </p:spPr>
      </p:pic>
    </p:spTree>
    <p:extLst>
      <p:ext uri="{BB962C8B-B14F-4D97-AF65-F5344CB8AC3E}">
        <p14:creationId xmlns:p14="http://schemas.microsoft.com/office/powerpoint/2010/main" val="74002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9" name="Picture 8">
            <a:extLst>
              <a:ext uri="{FF2B5EF4-FFF2-40B4-BE49-F238E27FC236}">
                <a16:creationId xmlns:a16="http://schemas.microsoft.com/office/drawing/2014/main" id="{B3825523-4EDE-3F02-1CBB-12D231084F90}"/>
              </a:ext>
            </a:extLst>
          </p:cNvPr>
          <p:cNvPicPr>
            <a:picLocks noChangeAspect="1"/>
          </p:cNvPicPr>
          <p:nvPr/>
        </p:nvPicPr>
        <p:blipFill>
          <a:blip r:embed="rId2"/>
          <a:stretch>
            <a:fillRect/>
          </a:stretch>
        </p:blipFill>
        <p:spPr>
          <a:xfrm>
            <a:off x="1668740" y="875070"/>
            <a:ext cx="8854520" cy="598292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D7FFF2D6-542A-2964-F4DA-555EB8FE99EF}"/>
              </a:ext>
            </a:extLst>
          </p:cNvPr>
          <p:cNvPicPr>
            <a:picLocks noChangeAspect="1"/>
          </p:cNvPicPr>
          <p:nvPr/>
        </p:nvPicPr>
        <p:blipFill>
          <a:blip r:embed="rId2"/>
          <a:stretch>
            <a:fillRect/>
          </a:stretch>
        </p:blipFill>
        <p:spPr>
          <a:xfrm>
            <a:off x="2542679" y="1350862"/>
            <a:ext cx="7106642" cy="437258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TotalTime>
  <Words>1524</Words>
  <Application>Microsoft Office PowerPoint</Application>
  <PresentationFormat>Widescreen</PresentationFormat>
  <Paragraphs>120</Paragraphs>
  <Slides>21</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Sounak Bose</cp:lastModifiedBy>
  <cp:revision>6</cp:revision>
  <dcterms:created xsi:type="dcterms:W3CDTF">2025-07-08T05:06:56Z</dcterms:created>
  <dcterms:modified xsi:type="dcterms:W3CDTF">2026-09-06T15:52:52Z</dcterms:modified>
</cp:coreProperties>
</file>